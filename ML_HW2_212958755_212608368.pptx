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4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40080" y="1005840"/>
            <a:ext cx="7863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Should an AI Agent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Call a Tool, or Refuse?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2926080"/>
            <a:ext cx="1737360" cy="868680"/>
          </a:xfrm>
          <a:prstGeom prst="roundRect">
            <a:avLst>
              <a:gd fmla="val 8421" name="adj"/>
            </a:avLst>
          </a:prstGeom>
          <a:solidFill>
            <a:srgbClr val="028090">
              <a:alpha val="25098"/>
            </a:srgbClr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40080" y="294436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3,491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33375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Agent Tasks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651760" y="2926080"/>
            <a:ext cx="1737360" cy="868680"/>
          </a:xfrm>
          <a:prstGeom prst="roundRect">
            <a:avLst>
              <a:gd fmla="val 8421" name="adj"/>
            </a:avLst>
          </a:prstGeom>
          <a:solidFill>
            <a:srgbClr val="028090">
              <a:alpha val="25098"/>
            </a:srgbClr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651760" y="294436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651760" y="33375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663440" y="2926080"/>
            <a:ext cx="1737360" cy="868680"/>
          </a:xfrm>
          <a:prstGeom prst="roundRect">
            <a:avLst>
              <a:gd fmla="val 8421" name="adj"/>
            </a:avLst>
          </a:prstGeom>
          <a:solidFill>
            <a:srgbClr val="028090">
              <a:alpha val="25098"/>
            </a:srgbClr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4663440" y="294436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663440" y="33375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urier New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can_answer: 0 |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Amina Omari (212958755)  ·  Ossama Ziadat (212608368)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555379" y="4297675"/>
            <a:ext cx="173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TA: Nagham Dawood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EDA 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02C"/>
                </a:solidFill>
                <a:latin typeface="Cambria"/>
                <a:ea typeface="Cambria"/>
                <a:cs typeface="Cambria"/>
                <a:sym typeface="Cambria"/>
              </a:rPr>
              <a:t>Aspect Coverage Ratio Separates the Classes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88720"/>
            <a:ext cx="5029200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5669280" y="1188720"/>
            <a:ext cx="3017520" cy="1005840"/>
          </a:xfrm>
          <a:prstGeom prst="roundRect">
            <a:avLst>
              <a:gd fmla="val 9091" name="adj"/>
            </a:avLst>
          </a:prstGeom>
          <a:solidFill>
            <a:srgbClr val="EAF5F6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5760720" y="1261872"/>
            <a:ext cx="2834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Tasks that can be answered overwhelmingly have ratio near 1.0 — tools match the query topics.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669280" y="2377440"/>
            <a:ext cx="3017520" cy="1005840"/>
          </a:xfrm>
          <a:prstGeom prst="roundRect">
            <a:avLst>
              <a:gd fmla="val 9091" name="adj"/>
            </a:avLst>
          </a:prstGeom>
          <a:solidFill>
            <a:srgbClr val="EAF5F6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760720" y="2450592"/>
            <a:ext cx="2834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Refusal tasks cluster at 0 — available tools are irrelevant to the query.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669280" y="3566160"/>
            <a:ext cx="3017520" cy="1005840"/>
          </a:xfrm>
          <a:prstGeom prst="roundRect">
            <a:avLst>
              <a:gd fmla="val 9091" name="adj"/>
            </a:avLst>
          </a:prstGeom>
          <a:solidFill>
            <a:srgbClr val="EAF5F6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760720" y="3639312"/>
            <a:ext cx="2834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Strongest class separator observed in EDA, consistently top feature by importance.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Best Classification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02C"/>
                </a:solidFill>
                <a:latin typeface="Cambria"/>
                <a:ea typeface="Cambria"/>
                <a:cs typeface="Cambria"/>
                <a:sym typeface="Cambria"/>
              </a:rPr>
              <a:t>Random Forest — Test Set 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65760" y="1234440"/>
            <a:ext cx="1828800" cy="1280160"/>
          </a:xfrm>
          <a:prstGeom prst="roundRect">
            <a:avLst>
              <a:gd fmla="val 8571" name="adj"/>
            </a:avLst>
          </a:prstGeom>
          <a:solidFill>
            <a:srgbClr val="F4F8F9"/>
          </a:solidFill>
          <a:ln cap="flat" cmpd="sng" w="12700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365760" y="1298448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89%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365760" y="199339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65760" y="22402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0.8857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2468880" y="1234440"/>
            <a:ext cx="1828800" cy="1280160"/>
          </a:xfrm>
          <a:prstGeom prst="roundRect">
            <a:avLst>
              <a:gd fmla="val 8571" name="adj"/>
            </a:avLst>
          </a:prstGeom>
          <a:solidFill>
            <a:srgbClr val="F4F8F9"/>
          </a:solidFill>
          <a:ln cap="flat" cmpd="sng" w="12700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2468880" y="1298448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89%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2468880" y="199339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2468880" y="22402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0.8924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572000" y="1234440"/>
            <a:ext cx="1828800" cy="1280160"/>
          </a:xfrm>
          <a:prstGeom prst="roundRect">
            <a:avLst>
              <a:gd fmla="val 8571" name="adj"/>
            </a:avLst>
          </a:prstGeom>
          <a:solidFill>
            <a:srgbClr val="F4F8F9"/>
          </a:solidFill>
          <a:ln cap="flat" cmpd="sng" w="12700">
            <a:solidFill>
              <a:srgbClr val="D0E8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572000" y="1298448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95%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572000" y="199339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0" y="22402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0.9451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675120" y="1234440"/>
            <a:ext cx="1828800" cy="1280160"/>
          </a:xfrm>
          <a:prstGeom prst="roundRect">
            <a:avLst>
              <a:gd fmla="val 8571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675120" y="1298448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92%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675120" y="199339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F5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F5F0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675120" y="22402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F5F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7F5F0"/>
                </a:solidFill>
                <a:latin typeface="Calibri"/>
                <a:ea typeface="Calibri"/>
                <a:cs typeface="Calibri"/>
                <a:sym typeface="Calibri"/>
              </a:rPr>
              <a:t>0.9180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Hyperparameters:  n_estimators = 200  ·  max_depth = 20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971800"/>
            <a:ext cx="832104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Error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02C"/>
                </a:solidFill>
                <a:latin typeface="Cambria"/>
                <a:ea typeface="Cambria"/>
                <a:cs typeface="Cambria"/>
                <a:sym typeface="Cambria"/>
              </a:rPr>
              <a:t>False Positives Are the Costliest Mistake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365760" y="1188720"/>
            <a:ext cx="3931920" cy="3017520"/>
          </a:xfrm>
          <a:prstGeom prst="roundRect">
            <a:avLst>
              <a:gd fmla="val 3636" name="adj"/>
            </a:avLst>
          </a:prstGeom>
          <a:solidFill>
            <a:srgbClr val="FFF5F5"/>
          </a:solidFill>
          <a:ln cap="flat" cmpd="sng" w="254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548640" y="13258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False Positive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48640" y="166420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ourier New"/>
                <a:ea typeface="Courier New"/>
                <a:cs typeface="Courier New"/>
                <a:sym typeface="Courier New"/>
              </a:rPr>
              <a:t>Predict CAN answer  ·  Actually CANNOT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94360" y="1965960"/>
            <a:ext cx="35204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Agent calls a tool that cannot help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May perform harmful actions (e.g. send, book, delete)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Wastes resources and erodes user trust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Harder to recover from in production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94360" y="3657600"/>
            <a:ext cx="1463040" cy="347472"/>
          </a:xfrm>
          <a:prstGeom prst="roundRect">
            <a:avLst>
              <a:gd fmla="val 21053" name="adj"/>
            </a:avLst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594360" y="3675888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Most Dangerous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846320" y="1188720"/>
            <a:ext cx="3931920" cy="3017520"/>
          </a:xfrm>
          <a:prstGeom prst="roundRect">
            <a:avLst>
              <a:gd fmla="val 3636" name="adj"/>
            </a:avLst>
          </a:prstGeom>
          <a:solidFill>
            <a:srgbClr val="FFFBEB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5029200" y="13258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False Negative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029200" y="166420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ourier New"/>
                <a:ea typeface="Courier New"/>
                <a:cs typeface="Courier New"/>
                <a:sym typeface="Courier New"/>
              </a:rPr>
              <a:t>Predict CANNOT answer  ·  Actually CAN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074920" y="1965960"/>
            <a:ext cx="35204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Agent refuses a solvable request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User experience suffers — unhelpful 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No harmful side-effect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User can rephrase and retry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074920" y="3657600"/>
            <a:ext cx="1463040" cy="347472"/>
          </a:xfrm>
          <a:prstGeom prst="roundRect">
            <a:avLst>
              <a:gd fmla="val 21053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5074920" y="3675888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Recoverable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Note: The deployed RF has precision 89% &lt; recall 95% — it leans toward recall. A threshold adjustment can shift it toward higher precision (fewer FP) when a conservative production setting is required.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Clustering 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02C"/>
                </a:solidFill>
                <a:latin typeface="Cambria"/>
                <a:ea typeface="Cambria"/>
                <a:cs typeface="Cambria"/>
                <a:sym typeface="Cambria"/>
              </a:rPr>
              <a:t>K-Means (k=4) — Four Natural Task Groups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274320" y="1234440"/>
            <a:ext cx="1965960" cy="3520440"/>
          </a:xfrm>
          <a:prstGeom prst="roundRect">
            <a:avLst>
              <a:gd fmla="val 5581" name="adj"/>
            </a:avLst>
          </a:prstGeom>
          <a:solidFill>
            <a:srgbClr val="F4F8F9"/>
          </a:solidFill>
          <a:ln cap="flat" cmpd="sng" w="25400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347472" y="1307592"/>
            <a:ext cx="475488" cy="310896"/>
          </a:xfrm>
          <a:prstGeom prst="roundRect">
            <a:avLst>
              <a:gd fmla="val 17647" name="adj"/>
            </a:avLst>
          </a:prstGeom>
          <a:solidFill>
            <a:srgbClr val="4A5568"/>
          </a:solidFill>
          <a:ln cap="flat" cmpd="sng" w="12700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347472" y="1316736"/>
            <a:ext cx="475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365760" y="1645920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Low-Coverage Mixed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384048" y="2176272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261872" y="217627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1,689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384048" y="2569464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Answer 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1261872" y="2569464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54%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384048" y="2962656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Asp. Cover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261872" y="2962656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0.009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84048" y="3355848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Top Domain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261872" y="33558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other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384048" y="374904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Complexity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261872" y="3749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384048" y="4142232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Error Profile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261872" y="414223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TP + TN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2450592" y="1234440"/>
            <a:ext cx="1965960" cy="3520440"/>
          </a:xfrm>
          <a:prstGeom prst="roundRect">
            <a:avLst>
              <a:gd fmla="val 5581" name="adj"/>
            </a:avLst>
          </a:prstGeom>
          <a:solidFill>
            <a:srgbClr val="F4F8F9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2523744" y="1307592"/>
            <a:ext cx="475488" cy="310896"/>
          </a:xfrm>
          <a:prstGeom prst="roundRect">
            <a:avLst>
              <a:gd fmla="val 17647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2523744" y="1316736"/>
            <a:ext cx="475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2542032" y="1645920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Vision Outlier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2560320" y="2176272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3438144" y="217627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2560320" y="2569464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Answer 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3438144" y="2569464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2560320" y="2962656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Asp. Cover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438144" y="2962656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0.10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2560320" y="3355848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Top Domain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3438144" y="33558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2560320" y="374904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Complexity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438144" y="3749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560320" y="4142232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Error Profile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438144" y="414223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TN (tiny)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626864" y="1234440"/>
            <a:ext cx="1965960" cy="3520440"/>
          </a:xfrm>
          <a:prstGeom prst="roundRect">
            <a:avLst>
              <a:gd fmla="val 5581" name="adj"/>
            </a:avLst>
          </a:prstGeom>
          <a:solidFill>
            <a:srgbClr val="F4F8F9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700016" y="1307592"/>
            <a:ext cx="475488" cy="310896"/>
          </a:xfrm>
          <a:prstGeom prst="roundRect">
            <a:avLst>
              <a:gd fmla="val 17647" name="adj"/>
            </a:avLst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700016" y="1316736"/>
            <a:ext cx="475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718304" y="1645920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Moderate-Match / Complex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736592" y="2176272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614416" y="217627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1,121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736592" y="2569464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Answer 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614416" y="2569464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75%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736592" y="2962656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Asp. Cover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614416" y="2962656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0.31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736592" y="3355848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Top Domain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614416" y="33558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other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736592" y="374904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Complexity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614416" y="3749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736592" y="4142232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Error Profile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614416" y="414223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Mostly TP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803136" y="1234440"/>
            <a:ext cx="1965960" cy="3520440"/>
          </a:xfrm>
          <a:prstGeom prst="roundRect">
            <a:avLst>
              <a:gd fmla="val 5581" name="adj"/>
            </a:avLst>
          </a:prstGeom>
          <a:solidFill>
            <a:srgbClr val="F4F8F9"/>
          </a:solidFill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6876288" y="1307592"/>
            <a:ext cx="475488" cy="310896"/>
          </a:xfrm>
          <a:prstGeom prst="roundRect">
            <a:avLst>
              <a:gd fmla="val 17647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6876288" y="1316736"/>
            <a:ext cx="475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894576" y="1645920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High-Match / Answerable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912864" y="2176272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7790688" y="217627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677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912864" y="2569464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Answer 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790688" y="2569464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91%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912864" y="2962656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Asp. Cover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790688" y="2962656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0.85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912864" y="3355848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Top Domain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7790688" y="33558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math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912864" y="374904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Complexity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790688" y="3749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912864" y="4142232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Error Profile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790688" y="414223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Mostly TP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Clustering method: K-Means · Optimal k selected by Silhouette score · Ward Hierarchical chosen k=2 (sil=0.38)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45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Final Recommendation &amp; Limitation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Dataset Limitation  ·  Suggested Improvement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65760" y="1325880"/>
            <a:ext cx="3977640" cy="2926080"/>
          </a:xfrm>
          <a:prstGeom prst="roundRect">
            <a:avLst>
              <a:gd fmla="val 3750" name="adj"/>
            </a:avLst>
          </a:prstGeom>
          <a:solidFill>
            <a:srgbClr val="1A3055"/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548640" y="14630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Limitation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48640" y="1892808"/>
            <a:ext cx="35661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8D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C8D8"/>
                </a:solidFill>
                <a:latin typeface="Calibri"/>
                <a:ea typeface="Calibri"/>
                <a:cs typeface="Calibri"/>
                <a:sym typeface="Calibri"/>
              </a:rPr>
              <a:t>The can_answer label is synthetically derived from benchmark construction rules — not from new human annotations. Models may learn patterns specific to the benchmark artifacts rather than truly generalising to real-world tool-use reasoning.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800600" y="1325880"/>
            <a:ext cx="3977640" cy="2926080"/>
          </a:xfrm>
          <a:prstGeom prst="roundRect">
            <a:avLst>
              <a:gd fmla="val 3750" name="adj"/>
            </a:avLst>
          </a:prstGeom>
          <a:solidFill>
            <a:srgbClr val="1A3055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4983480" y="14630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Suggested Improvement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983480" y="1892808"/>
            <a:ext cx="35661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8D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C8D8"/>
                </a:solidFill>
                <a:latin typeface="Calibri"/>
                <a:ea typeface="Calibri"/>
                <a:cs typeface="Calibri"/>
                <a:sym typeface="Calibri"/>
              </a:rPr>
              <a:t>Replace strict keyword-based aspect matching with embedding-based cosine similarity between the query and tool descriptions. This would capture semantic equivalences (synonyms, paraphrases) that keyword rules miss, creating far richer and more robust features.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Best Model: Random Forest  ·  Main Metric: F1  ·  Test F1: ~0.92  ·  Main Error: False Positives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